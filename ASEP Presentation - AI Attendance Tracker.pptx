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75" r:id="rId2"/>
    <p:sldId id="276" r:id="rId3"/>
    <p:sldId id="257" r:id="rId4"/>
    <p:sldId id="258" r:id="rId5"/>
    <p:sldId id="262" r:id="rId6"/>
    <p:sldId id="264" r:id="rId7"/>
    <p:sldId id="263" r:id="rId8"/>
    <p:sldId id="265" r:id="rId9"/>
    <p:sldId id="266" r:id="rId10"/>
  </p:sldIdLst>
  <p:sldSz cx="18288000" cy="10287000"/>
  <p:notesSz cx="6858000" cy="9144000"/>
  <p:embeddedFontLst>
    <p:embeddedFont>
      <p:font typeface="Carlito" panose="020B0604020202020204" charset="0"/>
      <p:regular r:id="rId12"/>
    </p:embeddedFont>
    <p:embeddedFont>
      <p:font typeface="Lucida Sans Typewriter" panose="020B0509030504030204" pitchFamily="49" charset="0"/>
      <p:regular r:id="rId13"/>
      <p:bold r:id="rId14"/>
      <p:italic r:id="rId15"/>
      <p:boldItalic r:id="rId16"/>
    </p:embeddedFont>
    <p:embeddedFont>
      <p:font typeface="Radley" panose="020B0604020202020204" charset="0"/>
      <p:regular r:id="rId17"/>
    </p:embeddedFont>
    <p:embeddedFont>
      <p:font typeface="Radley Italics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4CED49-81D8-487F-952E-06BB97431262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BBE278-A99B-48DF-A16E-B8DB07ECFA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443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D5559C-9A1D-465C-BD22-C64000BBBB10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472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322FD-CCA9-4406-9618-24339941CF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6610" y="0"/>
            <a:ext cx="15033672" cy="2438404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>
                <a:latin typeface="Lucida Sans Typewriter" pitchFamily="49" charset="0"/>
              </a:rPr>
              <a:t>Applied Science and Engineering Project (ASEP)</a:t>
            </a:r>
            <a:br>
              <a:rPr lang="en-IN" sz="5400">
                <a:latin typeface="Lucida Sans Typewriter" pitchFamily="49" charset="0"/>
              </a:rPr>
            </a:br>
            <a:r>
              <a:rPr lang="en-IN" sz="3600">
                <a:latin typeface="Lucida Sans Typewriter" pitchFamily="49" charset="0"/>
              </a:rPr>
              <a:t>Course Code: </a:t>
            </a:r>
            <a:r>
              <a:rPr lang="en-US" sz="3600">
                <a:latin typeface="Lucida Sans Typewriter" pitchFamily="49" charset="0"/>
              </a:rPr>
              <a:t>AI 1011</a:t>
            </a:r>
            <a:r>
              <a:rPr lang="en-IN" sz="3600">
                <a:latin typeface="Lucida Sans Typewriter" pitchFamily="49" charset="0"/>
              </a:rPr>
              <a:t> </a:t>
            </a:r>
            <a:br>
              <a:rPr lang="en-IN" sz="5400">
                <a:latin typeface="Lucida Sans Typewriter" panose="020B0509030504030204" pitchFamily="49" charset="0"/>
              </a:rPr>
            </a:br>
            <a:br>
              <a:rPr lang="en-IN" sz="2800">
                <a:latin typeface="Lucida Sans Typewriter" panose="020B0509030504030204" pitchFamily="49" charset="0"/>
              </a:rPr>
            </a:br>
            <a:r>
              <a:rPr lang="en-IN" sz="3600" b="1">
                <a:latin typeface="Lucida Sans Typewriter" panose="020B0509030504030204" pitchFamily="49" charset="0"/>
              </a:rPr>
              <a:t>Mid Semester Review Activity Presentation</a:t>
            </a:r>
            <a:endParaRPr lang="en-IN" sz="5400" b="1">
              <a:latin typeface="Lucida Sans Typewriter" panose="020B0509030504030204" pitchFamily="49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E6DDC4-FD95-4802-92CF-9A0A661527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9232" y="2896324"/>
            <a:ext cx="14428428" cy="1969404"/>
          </a:xfrm>
        </p:spPr>
        <p:txBody>
          <a:bodyPr vert="horz" lIns="137160" tIns="68580" rIns="137160" bIns="68580" rtlCol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IN" sz="4400" i="1" dirty="0">
                <a:solidFill>
                  <a:srgbClr val="FF0000"/>
                </a:solidFill>
                <a:ea typeface="+mn-lt"/>
                <a:cs typeface="+mn-lt"/>
              </a:rPr>
              <a:t>AI Attendance tracker via face recognition </a:t>
            </a:r>
            <a:endParaRPr lang="en-US" sz="4400" i="1" dirty="0"/>
          </a:p>
          <a:p>
            <a:pPr>
              <a:spcBef>
                <a:spcPts val="0"/>
              </a:spcBef>
            </a:pPr>
            <a:endParaRPr lang="en-IN" dirty="0">
              <a:solidFill>
                <a:srgbClr val="FF0000"/>
              </a:solidFill>
            </a:endParaRPr>
          </a:p>
          <a:p>
            <a:pPr>
              <a:spcBef>
                <a:spcPts val="0"/>
              </a:spcBef>
            </a:pPr>
            <a:r>
              <a:rPr lang="en-IN" sz="4000" b="1" dirty="0"/>
              <a:t>Department of Engineering, Sciences and Humanities</a:t>
            </a:r>
            <a:endParaRPr lang="en-IN" sz="4000" b="1" dirty="0">
              <a:ea typeface="Calibri"/>
              <a:cs typeface="Calibri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2E6DDC4-FD95-4802-92CF-9A0A66152708}"/>
              </a:ext>
            </a:extLst>
          </p:cNvPr>
          <p:cNvSpPr txBox="1">
            <a:spLocks/>
          </p:cNvSpPr>
          <p:nvPr/>
        </p:nvSpPr>
        <p:spPr>
          <a:xfrm>
            <a:off x="498421" y="8042137"/>
            <a:ext cx="17291162" cy="840922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137160" tIns="68580" rIns="137160" bIns="68580" rtlCol="0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BRACT’S, Vishwakarma Institute of Technology, Pune-37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7210" y="5042936"/>
            <a:ext cx="2652472" cy="299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4104" y="8855844"/>
            <a:ext cx="1669868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600" b="1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(An Autonomous Institute affiliated to Savitribai Phule Pune University)</a:t>
            </a:r>
          </a:p>
          <a:p>
            <a:pPr algn="ctr"/>
            <a:r>
              <a:rPr lang="en-IN" sz="3600" b="1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(NBA and NAAC accredited, ISO 9001:2015 certified) </a:t>
            </a:r>
          </a:p>
        </p:txBody>
      </p:sp>
    </p:spTree>
    <p:extLst>
      <p:ext uri="{BB962C8B-B14F-4D97-AF65-F5344CB8AC3E}">
        <p14:creationId xmlns:p14="http://schemas.microsoft.com/office/powerpoint/2010/main" val="2675140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25C49-0FED-4D6B-B28B-CEC15C300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0"/>
            <a:ext cx="15773400" cy="1456008"/>
          </a:xfrm>
        </p:spPr>
        <p:txBody>
          <a:bodyPr>
            <a:normAutofit/>
          </a:bodyPr>
          <a:lstStyle/>
          <a:p>
            <a:pPr algn="ctr"/>
            <a:r>
              <a:rPr lang="en-US" sz="3600"/>
              <a:t>Applied Science and Engineering Project 1 (ASEP1) </a:t>
            </a:r>
            <a:r>
              <a:rPr lang="en-US" sz="3600" err="1"/>
              <a:t>Project_PPT</a:t>
            </a:r>
            <a:r>
              <a:rPr lang="en-US" sz="3600"/>
              <a:t> for Mid Semester Assessment – November 2025</a:t>
            </a:r>
            <a:endParaRPr lang="en-IN" sz="360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1449246" cy="163869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9764911"/>
            <a:ext cx="18288000" cy="505374"/>
          </a:xfrm>
          <a:prstGeom prst="rect">
            <a:avLst/>
          </a:prstGeom>
          <a:solidFill>
            <a:srgbClr val="43A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>
                <a:solidFill>
                  <a:schemeClr val="tx1"/>
                </a:solidFill>
              </a:rPr>
              <a:t>Roll Nos. of the Students, Department of Engineering, Sciences and Humanities, VIT, Pune-37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7DA496CA-B28D-4CA7-951D-950D5EA7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06452" y="9764910"/>
            <a:ext cx="1081548" cy="547688"/>
          </a:xfrm>
        </p:spPr>
        <p:txBody>
          <a:bodyPr/>
          <a:lstStyle/>
          <a:p>
            <a:fld id="{3FCAF691-C30B-4477-A4FB-AFF7F164B000}" type="slidenum">
              <a:rPr lang="en-IN" sz="2400" b="1">
                <a:solidFill>
                  <a:schemeClr val="tx1"/>
                </a:solidFill>
              </a:rPr>
              <a:pPr/>
              <a:t>2</a:t>
            </a:fld>
            <a:endParaRPr lang="en-IN" sz="2400" b="1">
              <a:solidFill>
                <a:schemeClr val="tx1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257300" y="1534510"/>
            <a:ext cx="15773400" cy="7730936"/>
          </a:xfrm>
        </p:spPr>
        <p:txBody>
          <a:bodyPr vert="horz" lIns="137160" tIns="68580" rIns="137160" bIns="68580" rtlCol="0" anchor="t">
            <a:normAutofit lnSpcReduction="10000"/>
          </a:bodyPr>
          <a:lstStyle/>
          <a:p>
            <a:pPr>
              <a:buNone/>
            </a:pPr>
            <a:r>
              <a:rPr lang="en-IN" dirty="0"/>
              <a:t>Project Title:-</a:t>
            </a:r>
            <a:r>
              <a:rPr lang="en-IN" dirty="0">
                <a:ea typeface="+mn-lt"/>
                <a:cs typeface="+mn-lt"/>
              </a:rPr>
              <a:t>AI Attendance tracker via face recognition </a:t>
            </a:r>
            <a:endParaRPr lang="en-US" dirty="0">
              <a:ea typeface="+mn-lt"/>
              <a:cs typeface="+mn-lt"/>
            </a:endParaRPr>
          </a:p>
          <a:p>
            <a:pPr>
              <a:buNone/>
            </a:pPr>
            <a:r>
              <a:rPr lang="en-IN" dirty="0"/>
              <a:t>Div:- AIDS-F  ASEP1_Group No:- 4   Day:- Saturday		Date:- 17-01-2026</a:t>
            </a:r>
          </a:p>
          <a:p>
            <a:pPr>
              <a:buNone/>
            </a:pPr>
            <a:endParaRPr lang="en-IN" dirty="0">
              <a:ea typeface="Calibri"/>
              <a:cs typeface="Calibri"/>
            </a:endParaRPr>
          </a:p>
          <a:p>
            <a:pPr>
              <a:buNone/>
            </a:pPr>
            <a:endParaRPr lang="en-IN" dirty="0">
              <a:ea typeface="Calibri"/>
              <a:cs typeface="Calibri"/>
            </a:endParaRPr>
          </a:p>
          <a:p>
            <a:pPr>
              <a:buNone/>
            </a:pPr>
            <a:r>
              <a:rPr lang="en-IN" dirty="0"/>
              <a:t>Presented by						     Project Guide-  Mrs. Minal </a:t>
            </a:r>
            <a:r>
              <a:rPr lang="en-IN" dirty="0" err="1"/>
              <a:t>Bharate</a:t>
            </a:r>
            <a:endParaRPr lang="en-IN" dirty="0">
              <a:ea typeface="Calibri"/>
              <a:cs typeface="Calibri"/>
            </a:endParaRPr>
          </a:p>
          <a:p>
            <a:pPr>
              <a:buNone/>
            </a:pPr>
            <a:r>
              <a:rPr lang="en-IN" dirty="0"/>
              <a:t>1) Soham Patil (1251010550)			</a:t>
            </a:r>
          </a:p>
          <a:p>
            <a:pPr>
              <a:buNone/>
            </a:pPr>
            <a:r>
              <a:rPr lang="en-IN" dirty="0"/>
              <a:t>2) Soham Kurulkar (1251010362)	</a:t>
            </a:r>
          </a:p>
          <a:p>
            <a:pPr>
              <a:buNone/>
            </a:pPr>
            <a:r>
              <a:rPr lang="en-IN" dirty="0"/>
              <a:t>3) </a:t>
            </a:r>
            <a:r>
              <a:rPr lang="en-IN" dirty="0">
                <a:ea typeface="+mn-lt"/>
                <a:cs typeface="+mn-lt"/>
              </a:rPr>
              <a:t>Suchit </a:t>
            </a:r>
            <a:r>
              <a:rPr lang="en-IN" dirty="0" err="1">
                <a:ea typeface="+mn-lt"/>
                <a:cs typeface="+mn-lt"/>
              </a:rPr>
              <a:t>Tumbada</a:t>
            </a:r>
            <a:r>
              <a:rPr lang="en-IN" dirty="0"/>
              <a:t> (</a:t>
            </a:r>
            <a:r>
              <a:rPr lang="en-IN" dirty="0">
                <a:ea typeface="+mn-lt"/>
                <a:cs typeface="+mn-lt"/>
              </a:rPr>
              <a:t>1251010757</a:t>
            </a:r>
            <a:r>
              <a:rPr lang="en-IN" dirty="0"/>
              <a:t>)</a:t>
            </a:r>
            <a:endParaRPr lang="en-IN" dirty="0">
              <a:ea typeface="Calibri"/>
              <a:cs typeface="Calibri"/>
            </a:endParaRPr>
          </a:p>
          <a:p>
            <a:pPr>
              <a:buNone/>
            </a:pPr>
            <a:r>
              <a:rPr lang="en-IN" dirty="0"/>
              <a:t>4) Snehal Dhande(</a:t>
            </a:r>
            <a:r>
              <a:rPr lang="en-IN" dirty="0">
                <a:ea typeface="+mn-lt"/>
                <a:cs typeface="+mn-lt"/>
              </a:rPr>
              <a:t>1251010381</a:t>
            </a:r>
            <a:r>
              <a:rPr lang="en-IN" dirty="0"/>
              <a:t>)</a:t>
            </a:r>
            <a:endParaRPr lang="en-IN" dirty="0">
              <a:ea typeface="Calibri"/>
              <a:cs typeface="Calibri"/>
            </a:endParaRPr>
          </a:p>
          <a:p>
            <a:pPr>
              <a:buNone/>
            </a:pPr>
            <a:endParaRPr lang="en-IN" dirty="0">
              <a:ea typeface="Calibri"/>
              <a:cs typeface="Calibri"/>
            </a:endParaRPr>
          </a:p>
          <a:p>
            <a:pPr>
              <a:buNone/>
            </a:pPr>
            <a:endParaRPr lang="en-IN" dirty="0">
              <a:ea typeface="Calibri"/>
              <a:cs typeface="Calibri"/>
            </a:endParaRPr>
          </a:p>
          <a:p>
            <a:pPr algn="ctr">
              <a:buNone/>
            </a:pPr>
            <a:r>
              <a:rPr lang="en-IN" sz="4800" dirty="0"/>
              <a:t>Department of Engineering, Sciences and Humanities</a:t>
            </a:r>
            <a:endParaRPr lang="en-IN" sz="4800" dirty="0">
              <a:ea typeface="Calibri"/>
              <a:cs typeface="Calibri"/>
            </a:endParaRPr>
          </a:p>
          <a:p>
            <a:pPr algn="ctr">
              <a:buNone/>
            </a:pPr>
            <a:r>
              <a:rPr lang="en-IN" sz="4800" dirty="0"/>
              <a:t>Vishwakarma Institute of Technology, Pune</a:t>
            </a:r>
            <a:endParaRPr lang="en-IN" sz="4800" dirty="0">
              <a:ea typeface="Calibri"/>
              <a:cs typeface="Calibri"/>
            </a:endParaRPr>
          </a:p>
          <a:p>
            <a:pPr>
              <a:buNone/>
            </a:pPr>
            <a:endParaRPr lang="en-IN" sz="4800" b="1" dirty="0"/>
          </a:p>
          <a:p>
            <a:pPr>
              <a:buNone/>
            </a:pPr>
            <a:endParaRPr lang="en-IN" sz="4800" b="1" dirty="0"/>
          </a:p>
          <a:p>
            <a:pPr>
              <a:buNone/>
            </a:pPr>
            <a:endParaRPr lang="en-IN" sz="4800" b="1" dirty="0"/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303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29875" y="0"/>
            <a:ext cx="7858125" cy="10287000"/>
            <a:chOff x="0" y="0"/>
            <a:chExt cx="1217429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7429" cy="1593725"/>
            </a:xfrm>
            <a:custGeom>
              <a:avLst/>
              <a:gdLst/>
              <a:ahLst/>
              <a:cxnLst/>
              <a:rect l="l" t="t" r="r" b="b"/>
              <a:pathLst>
                <a:path w="1217429" h="1593725">
                  <a:moveTo>
                    <a:pt x="0" y="0"/>
                  </a:moveTo>
                  <a:lnTo>
                    <a:pt x="1217429" y="0"/>
                  </a:lnTo>
                  <a:lnTo>
                    <a:pt x="1217429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55" b="-25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838480" y="842962"/>
            <a:ext cx="7230865" cy="8601075"/>
            <a:chOff x="0" y="0"/>
            <a:chExt cx="9641153" cy="11468100"/>
          </a:xfrm>
        </p:grpSpPr>
        <p:sp>
          <p:nvSpPr>
            <p:cNvPr id="5" name="TextBox 5"/>
            <p:cNvSpPr txBox="1"/>
            <p:nvPr/>
          </p:nvSpPr>
          <p:spPr>
            <a:xfrm>
              <a:off x="26326" y="57150"/>
              <a:ext cx="9614826" cy="26792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840"/>
                </a:lnSpc>
                <a:spcBef>
                  <a:spcPct val="0"/>
                </a:spcBef>
              </a:pPr>
              <a:r>
                <a:rPr lang="en-US" sz="7000" i="1">
                  <a:solidFill>
                    <a:srgbClr val="0A0A0A"/>
                  </a:solidFill>
                  <a:latin typeface="Radley Italics"/>
                  <a:ea typeface="Radley Italics"/>
                  <a:cs typeface="Radley Italics"/>
                  <a:sym typeface="Radley Italics"/>
                </a:rPr>
                <a:t>Introduction to AI Attendance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6326" y="3708400"/>
              <a:ext cx="9614826" cy="1397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99"/>
                </a:lnSpc>
                <a:spcBef>
                  <a:spcPct val="0"/>
                </a:spcBef>
              </a:pPr>
              <a:r>
                <a:rPr lang="en-US" sz="3499" u="none">
                  <a:solidFill>
                    <a:srgbClr val="333333"/>
                  </a:solidFill>
                  <a:latin typeface="Radley"/>
                  <a:ea typeface="Radley"/>
                  <a:cs typeface="Radley"/>
                  <a:sym typeface="Radley"/>
                </a:rPr>
                <a:t>Enhancing attendance systems with AI face recognition technology</a:t>
              </a:r>
            </a:p>
          </p:txBody>
        </p:sp>
        <p:sp>
          <p:nvSpPr>
            <p:cNvPr id="7" name="AutoShape 7"/>
            <p:cNvSpPr/>
            <p:nvPr/>
          </p:nvSpPr>
          <p:spPr>
            <a:xfrm>
              <a:off x="0" y="3222414"/>
              <a:ext cx="9614826" cy="0"/>
            </a:xfrm>
            <a:prstGeom prst="line">
              <a:avLst/>
            </a:prstGeom>
            <a:ln w="25400" cap="flat">
              <a:solidFill>
                <a:srgbClr val="333333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6326" y="5740400"/>
              <a:ext cx="9588500" cy="572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00"/>
                </a:lnSpc>
              </a:pPr>
              <a:r>
                <a:rPr lang="en-US" sz="2000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</a:rPr>
                <a:t>The growing need for accuracy, efficiency, and security in attendance management has highlighted the limitations of traditional methods such as manual registers and RFID-based systems. These approaches are often time-consuming, prone to human error, and vulnerable to proxy attendance. With advancements in artificial intelligence and computer vision, face recognition presents a reliable and automated alternative to streamline this process.</a:t>
              </a:r>
            </a:p>
            <a:p>
              <a:pPr marL="0" lvl="0" indent="0" algn="l">
                <a:lnSpc>
                  <a:spcPts val="2400"/>
                </a:lnSpc>
              </a:pPr>
              <a:r>
                <a:rPr lang="en-US" sz="2000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</a:rPr>
                <a:t>  This project proposes the development of an AI-based Attendance Tracker that uses real-time face detection and recognition to automatically record attendance. By integrating machine learning models with a robust database and a user-friendly interface, the system aims to provide a faster, more transparent, and highly accurate solution for educational institutions and workplaces.</a:t>
              </a:r>
            </a:p>
            <a:p>
              <a:pPr marL="0" lvl="0" indent="0" algn="l">
                <a:lnSpc>
                  <a:spcPts val="2400"/>
                </a:lnSpc>
              </a:pPr>
              <a:endParaRPr lang="en-US" sz="2000">
                <a:solidFill>
                  <a:srgbClr val="333333"/>
                </a:solidFill>
                <a:latin typeface="Carlito"/>
                <a:ea typeface="Carlito"/>
                <a:cs typeface="Carlito"/>
                <a:sym typeface="Carlito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6750" y="9184102"/>
            <a:ext cx="2171730" cy="2205796"/>
            <a:chOff x="0" y="0"/>
            <a:chExt cx="812800" cy="825500"/>
          </a:xfrm>
        </p:grpSpPr>
        <p:sp>
          <p:nvSpPr>
            <p:cNvPr id="10" name="Freeform 10"/>
            <p:cNvSpPr/>
            <p:nvPr/>
          </p:nvSpPr>
          <p:spPr>
            <a:xfrm>
              <a:off x="1270" y="0"/>
              <a:ext cx="810260" cy="822960"/>
            </a:xfrm>
            <a:custGeom>
              <a:avLst/>
              <a:gdLst/>
              <a:ahLst/>
              <a:cxnLst/>
              <a:rect l="l" t="t" r="r" b="b"/>
              <a:pathLst>
                <a:path w="810260" h="822960">
                  <a:moveTo>
                    <a:pt x="405130" y="0"/>
                  </a:moveTo>
                  <a:lnTo>
                    <a:pt x="450850" y="151130"/>
                  </a:lnTo>
                  <a:lnTo>
                    <a:pt x="546100" y="25400"/>
                  </a:lnTo>
                  <a:lnTo>
                    <a:pt x="537210" y="181610"/>
                  </a:lnTo>
                  <a:lnTo>
                    <a:pt x="669290" y="96520"/>
                  </a:lnTo>
                  <a:lnTo>
                    <a:pt x="608330" y="241300"/>
                  </a:lnTo>
                  <a:lnTo>
                    <a:pt x="760730" y="205740"/>
                  </a:lnTo>
                  <a:lnTo>
                    <a:pt x="654050" y="321310"/>
                  </a:lnTo>
                  <a:lnTo>
                    <a:pt x="810260" y="340360"/>
                  </a:lnTo>
                  <a:lnTo>
                    <a:pt x="669290" y="411480"/>
                  </a:lnTo>
                  <a:lnTo>
                    <a:pt x="810260" y="482600"/>
                  </a:lnTo>
                  <a:lnTo>
                    <a:pt x="654050" y="501650"/>
                  </a:lnTo>
                  <a:lnTo>
                    <a:pt x="760730" y="617220"/>
                  </a:lnTo>
                  <a:lnTo>
                    <a:pt x="608330" y="581660"/>
                  </a:lnTo>
                  <a:lnTo>
                    <a:pt x="669290" y="726440"/>
                  </a:lnTo>
                  <a:lnTo>
                    <a:pt x="537210" y="640080"/>
                  </a:lnTo>
                  <a:lnTo>
                    <a:pt x="546100" y="797560"/>
                  </a:lnTo>
                  <a:lnTo>
                    <a:pt x="450850" y="671830"/>
                  </a:lnTo>
                  <a:lnTo>
                    <a:pt x="405130" y="822960"/>
                  </a:lnTo>
                  <a:lnTo>
                    <a:pt x="359410" y="671830"/>
                  </a:lnTo>
                  <a:lnTo>
                    <a:pt x="264160" y="797560"/>
                  </a:lnTo>
                  <a:lnTo>
                    <a:pt x="273050" y="640080"/>
                  </a:lnTo>
                  <a:lnTo>
                    <a:pt x="140970" y="726440"/>
                  </a:lnTo>
                  <a:lnTo>
                    <a:pt x="201930" y="581660"/>
                  </a:lnTo>
                  <a:lnTo>
                    <a:pt x="49530" y="617220"/>
                  </a:lnTo>
                  <a:lnTo>
                    <a:pt x="156210" y="501650"/>
                  </a:lnTo>
                  <a:lnTo>
                    <a:pt x="0" y="482600"/>
                  </a:lnTo>
                  <a:lnTo>
                    <a:pt x="140970" y="411480"/>
                  </a:lnTo>
                  <a:lnTo>
                    <a:pt x="0" y="340360"/>
                  </a:lnTo>
                  <a:lnTo>
                    <a:pt x="156210" y="321310"/>
                  </a:lnTo>
                  <a:lnTo>
                    <a:pt x="49530" y="205740"/>
                  </a:lnTo>
                  <a:lnTo>
                    <a:pt x="201930" y="241300"/>
                  </a:lnTo>
                  <a:lnTo>
                    <a:pt x="140970" y="96520"/>
                  </a:lnTo>
                  <a:lnTo>
                    <a:pt x="273050" y="181610"/>
                  </a:lnTo>
                  <a:lnTo>
                    <a:pt x="264160" y="25400"/>
                  </a:lnTo>
                  <a:lnTo>
                    <a:pt x="359410" y="151130"/>
                  </a:ln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0" y="0"/>
            <a:ext cx="2329391" cy="2623011"/>
          </a:xfrm>
          <a:custGeom>
            <a:avLst/>
            <a:gdLst/>
            <a:ahLst/>
            <a:cxnLst/>
            <a:rect l="l" t="t" r="r" b="b"/>
            <a:pathLst>
              <a:path w="2329391" h="2623011">
                <a:moveTo>
                  <a:pt x="0" y="0"/>
                </a:moveTo>
                <a:lnTo>
                  <a:pt x="2329391" y="0"/>
                </a:lnTo>
                <a:lnTo>
                  <a:pt x="2329391" y="2623011"/>
                </a:lnTo>
                <a:lnTo>
                  <a:pt x="0" y="26230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291388" y="6038850"/>
            <a:ext cx="4010025" cy="3581400"/>
            <a:chOff x="0" y="0"/>
            <a:chExt cx="1391532" cy="12427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1532" cy="1242794"/>
            </a:xfrm>
            <a:custGeom>
              <a:avLst/>
              <a:gdLst/>
              <a:ahLst/>
              <a:cxnLst/>
              <a:rect l="l" t="t" r="r" b="b"/>
              <a:pathLst>
                <a:path w="1391532" h="1242794">
                  <a:moveTo>
                    <a:pt x="0" y="0"/>
                  </a:moveTo>
                  <a:lnTo>
                    <a:pt x="1391532" y="0"/>
                  </a:lnTo>
                  <a:lnTo>
                    <a:pt x="1391532" y="1242794"/>
                  </a:lnTo>
                  <a:lnTo>
                    <a:pt x="0" y="1242794"/>
                  </a:lnTo>
                  <a:close/>
                </a:path>
              </a:pathLst>
            </a:custGeom>
            <a:blipFill>
              <a:blip r:embed="rId2"/>
              <a:stretch>
                <a:fillRect l="-104" r="-10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71550" y="6038850"/>
            <a:ext cx="4010025" cy="3581400"/>
            <a:chOff x="0" y="0"/>
            <a:chExt cx="1391532" cy="12427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91532" cy="1242794"/>
            </a:xfrm>
            <a:custGeom>
              <a:avLst/>
              <a:gdLst/>
              <a:ahLst/>
              <a:cxnLst/>
              <a:rect l="l" t="t" r="r" b="b"/>
              <a:pathLst>
                <a:path w="1391532" h="1242794">
                  <a:moveTo>
                    <a:pt x="0" y="0"/>
                  </a:moveTo>
                  <a:lnTo>
                    <a:pt x="1391532" y="0"/>
                  </a:lnTo>
                  <a:lnTo>
                    <a:pt x="1391532" y="1242794"/>
                  </a:lnTo>
                  <a:lnTo>
                    <a:pt x="0" y="1242794"/>
                  </a:lnTo>
                  <a:close/>
                </a:path>
              </a:pathLst>
            </a:custGeom>
            <a:blipFill>
              <a:blip r:embed="rId3"/>
              <a:stretch>
                <a:fillRect l="-104" r="-10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611225" y="6038850"/>
            <a:ext cx="4010025" cy="3581400"/>
            <a:chOff x="0" y="0"/>
            <a:chExt cx="1391532" cy="124279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91532" cy="1242794"/>
            </a:xfrm>
            <a:custGeom>
              <a:avLst/>
              <a:gdLst/>
              <a:ahLst/>
              <a:cxnLst/>
              <a:rect l="l" t="t" r="r" b="b"/>
              <a:pathLst>
                <a:path w="1391532" h="1242794">
                  <a:moveTo>
                    <a:pt x="0" y="0"/>
                  </a:moveTo>
                  <a:lnTo>
                    <a:pt x="1391532" y="0"/>
                  </a:lnTo>
                  <a:lnTo>
                    <a:pt x="1391532" y="1242794"/>
                  </a:lnTo>
                  <a:lnTo>
                    <a:pt x="0" y="1242794"/>
                  </a:lnTo>
                  <a:close/>
                </a:path>
              </a:pathLst>
            </a:custGeom>
            <a:blipFill>
              <a:blip r:embed="rId4"/>
              <a:stretch>
                <a:fillRect l="-104" r="-104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213937" y="159123"/>
            <a:ext cx="2189537" cy="2465529"/>
          </a:xfrm>
          <a:custGeom>
            <a:avLst/>
            <a:gdLst/>
            <a:ahLst/>
            <a:cxnLst/>
            <a:rect l="l" t="t" r="r" b="b"/>
            <a:pathLst>
              <a:path w="2189537" h="2465529">
                <a:moveTo>
                  <a:pt x="0" y="0"/>
                </a:moveTo>
                <a:lnTo>
                  <a:pt x="2189536" y="0"/>
                </a:lnTo>
                <a:lnTo>
                  <a:pt x="2189536" y="2465528"/>
                </a:lnTo>
                <a:lnTo>
                  <a:pt x="0" y="24655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6827616" y="803491"/>
            <a:ext cx="13249275" cy="1004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840"/>
              </a:lnSpc>
              <a:spcBef>
                <a:spcPct val="0"/>
              </a:spcBef>
            </a:pPr>
            <a:r>
              <a:rPr lang="en-US" sz="7000">
                <a:solidFill>
                  <a:srgbClr val="0A0A0A"/>
                </a:solidFill>
                <a:latin typeface="Radley"/>
                <a:ea typeface="Radley"/>
                <a:cs typeface="Radley"/>
                <a:sym typeface="Radley"/>
              </a:rPr>
              <a:t>Objectives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35500" y="3738398"/>
            <a:ext cx="4146075" cy="1664773"/>
            <a:chOff x="0" y="0"/>
            <a:chExt cx="5528100" cy="2219697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66675"/>
              <a:ext cx="5528100" cy="7566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770"/>
                </a:lnSpc>
                <a:spcBef>
                  <a:spcPct val="0"/>
                </a:spcBef>
              </a:pPr>
              <a:r>
                <a:rPr lang="en-US" sz="3407">
                  <a:solidFill>
                    <a:srgbClr val="333333"/>
                  </a:solidFill>
                  <a:latin typeface="Radley"/>
                  <a:ea typeface="Radley"/>
                  <a:cs typeface="Radley"/>
                  <a:sym typeface="Radley"/>
                </a:rPr>
                <a:t>Automate Attendance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071911"/>
              <a:ext cx="5528100" cy="11477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05"/>
                </a:lnSpc>
              </a:pPr>
              <a:r>
                <a:rPr lang="en-US" sz="2432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</a:rPr>
                <a:t>Streamline attendance processes using face recognition.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333821" y="3644416"/>
            <a:ext cx="4380135" cy="1758755"/>
            <a:chOff x="0" y="0"/>
            <a:chExt cx="5840180" cy="2345006"/>
          </a:xfrm>
        </p:grpSpPr>
        <p:sp>
          <p:nvSpPr>
            <p:cNvPr id="14" name="TextBox 14"/>
            <p:cNvSpPr txBox="1"/>
            <p:nvPr/>
          </p:nvSpPr>
          <p:spPr>
            <a:xfrm>
              <a:off x="0" y="1137801"/>
              <a:ext cx="5840180" cy="12072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97"/>
                </a:lnSpc>
              </a:pPr>
              <a:r>
                <a:rPr lang="en-US" sz="2569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</a:rPr>
                <a:t>Reduce manual errors in attendance recording.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76200"/>
              <a:ext cx="5840180" cy="8051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040"/>
                </a:lnSpc>
                <a:spcBef>
                  <a:spcPct val="0"/>
                </a:spcBef>
              </a:pPr>
              <a:r>
                <a:rPr lang="en-US" sz="3600">
                  <a:solidFill>
                    <a:srgbClr val="333333"/>
                  </a:solidFill>
                  <a:latin typeface="Radley"/>
                  <a:ea typeface="Radley"/>
                  <a:cs typeface="Radley"/>
                  <a:sym typeface="Radley"/>
                </a:rPr>
                <a:t>Minimize Errors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611225" y="3644416"/>
            <a:ext cx="4380135" cy="1758755"/>
            <a:chOff x="0" y="0"/>
            <a:chExt cx="5840180" cy="2345006"/>
          </a:xfrm>
        </p:grpSpPr>
        <p:sp>
          <p:nvSpPr>
            <p:cNvPr id="17" name="TextBox 17"/>
            <p:cNvSpPr txBox="1"/>
            <p:nvPr/>
          </p:nvSpPr>
          <p:spPr>
            <a:xfrm>
              <a:off x="0" y="1137801"/>
              <a:ext cx="5840180" cy="12072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97"/>
                </a:lnSpc>
              </a:pPr>
              <a:r>
                <a:rPr lang="en-US" sz="2569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</a:rPr>
                <a:t>Provide instant updates on attendance status.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76200"/>
              <a:ext cx="5840180" cy="8051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040"/>
                </a:lnSpc>
                <a:spcBef>
                  <a:spcPct val="0"/>
                </a:spcBef>
              </a:pPr>
              <a:r>
                <a:rPr lang="en-US" sz="3600">
                  <a:solidFill>
                    <a:srgbClr val="333333"/>
                  </a:solidFill>
                  <a:latin typeface="Radley"/>
                  <a:ea typeface="Radley"/>
                  <a:cs typeface="Radley"/>
                  <a:sym typeface="Radley"/>
                </a:rPr>
                <a:t>Real-Time Reporting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97406" y="4922520"/>
            <a:ext cx="4161894" cy="4697730"/>
            <a:chOff x="0" y="0"/>
            <a:chExt cx="1444233" cy="16301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44233" cy="1630175"/>
            </a:xfrm>
            <a:custGeom>
              <a:avLst/>
              <a:gdLst/>
              <a:ahLst/>
              <a:cxnLst/>
              <a:rect l="l" t="t" r="r" b="b"/>
              <a:pathLst>
                <a:path w="1444233" h="1630175">
                  <a:moveTo>
                    <a:pt x="0" y="0"/>
                  </a:moveTo>
                  <a:lnTo>
                    <a:pt x="1444233" y="0"/>
                  </a:lnTo>
                  <a:lnTo>
                    <a:pt x="1444233" y="1630175"/>
                  </a:lnTo>
                  <a:lnTo>
                    <a:pt x="0" y="1630175"/>
                  </a:lnTo>
                  <a:close/>
                </a:path>
              </a:pathLst>
            </a:custGeom>
            <a:blipFill>
              <a:blip r:embed="rId2"/>
              <a:stretch>
                <a:fillRect t="-2037" b="-203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7138987" y="4922520"/>
            <a:ext cx="4010025" cy="4697730"/>
            <a:chOff x="0" y="0"/>
            <a:chExt cx="1391532" cy="16301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91532" cy="1630175"/>
            </a:xfrm>
            <a:custGeom>
              <a:avLst/>
              <a:gdLst/>
              <a:ahLst/>
              <a:cxnLst/>
              <a:rect l="l" t="t" r="r" b="b"/>
              <a:pathLst>
                <a:path w="1391532" h="1630175">
                  <a:moveTo>
                    <a:pt x="0" y="0"/>
                  </a:moveTo>
                  <a:lnTo>
                    <a:pt x="1391532" y="0"/>
                  </a:lnTo>
                  <a:lnTo>
                    <a:pt x="1391532" y="1630175"/>
                  </a:lnTo>
                  <a:lnTo>
                    <a:pt x="0" y="1630175"/>
                  </a:lnTo>
                  <a:close/>
                </a:path>
              </a:pathLst>
            </a:custGeom>
            <a:blipFill>
              <a:blip r:embed="rId3"/>
              <a:stretch>
                <a:fillRect t="-138" b="-138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127618" y="4922520"/>
            <a:ext cx="4010025" cy="4697730"/>
            <a:chOff x="0" y="0"/>
            <a:chExt cx="879848" cy="103073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79848" cy="1030739"/>
            </a:xfrm>
            <a:custGeom>
              <a:avLst/>
              <a:gdLst/>
              <a:ahLst/>
              <a:cxnLst/>
              <a:rect l="l" t="t" r="r" b="b"/>
              <a:pathLst>
                <a:path w="879848" h="1030739">
                  <a:moveTo>
                    <a:pt x="0" y="0"/>
                  </a:moveTo>
                  <a:lnTo>
                    <a:pt x="879848" y="0"/>
                  </a:lnTo>
                  <a:lnTo>
                    <a:pt x="879848" y="1030739"/>
                  </a:lnTo>
                  <a:lnTo>
                    <a:pt x="0" y="1030739"/>
                  </a:lnTo>
                  <a:close/>
                </a:path>
              </a:pathLst>
            </a:custGeom>
            <a:blipFill>
              <a:blip r:embed="rId4"/>
              <a:stretch>
                <a:fillRect t="-138" b="-138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0" y="0"/>
            <a:ext cx="2129297" cy="2397696"/>
          </a:xfrm>
          <a:custGeom>
            <a:avLst/>
            <a:gdLst/>
            <a:ahLst/>
            <a:cxnLst/>
            <a:rect l="l" t="t" r="r" b="b"/>
            <a:pathLst>
              <a:path w="2129297" h="2397696">
                <a:moveTo>
                  <a:pt x="0" y="0"/>
                </a:moveTo>
                <a:lnTo>
                  <a:pt x="2129297" y="0"/>
                </a:lnTo>
                <a:lnTo>
                  <a:pt x="2129297" y="2397696"/>
                </a:lnTo>
                <a:lnTo>
                  <a:pt x="0" y="23976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405227" y="723900"/>
            <a:ext cx="16954500" cy="1004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840"/>
              </a:lnSpc>
              <a:spcBef>
                <a:spcPct val="0"/>
              </a:spcBef>
            </a:pPr>
            <a:r>
              <a:rPr lang="en-US" sz="7000">
                <a:solidFill>
                  <a:srgbClr val="0A0A0A"/>
                </a:solidFill>
                <a:latin typeface="Radley"/>
                <a:ea typeface="Radley"/>
                <a:cs typeface="Radley"/>
                <a:sym typeface="Radley"/>
              </a:rPr>
              <a:t>Software and Hardware Components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399428" y="2950146"/>
            <a:ext cx="4514343" cy="1423166"/>
            <a:chOff x="0" y="0"/>
            <a:chExt cx="6019124" cy="1897555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76200"/>
              <a:ext cx="6019124" cy="7955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025"/>
                </a:lnSpc>
                <a:spcBef>
                  <a:spcPct val="0"/>
                </a:spcBef>
              </a:pPr>
              <a:r>
                <a:rPr lang="en-US" sz="3589">
                  <a:solidFill>
                    <a:srgbClr val="333333"/>
                  </a:solidFill>
                  <a:latin typeface="Radley"/>
                  <a:ea typeface="Radley"/>
                  <a:cs typeface="Radley"/>
                  <a:sym typeface="Radley"/>
                </a:rPr>
                <a:t>Software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701927"/>
              <a:ext cx="6019124" cy="11956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89"/>
                </a:lnSpc>
              </a:pPr>
              <a:r>
                <a:rPr lang="en-US" sz="2564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</a:rPr>
                <a:t>Tools include Python and OpenCV libraries.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097406" y="3026816"/>
            <a:ext cx="4459863" cy="1479122"/>
            <a:chOff x="0" y="0"/>
            <a:chExt cx="5946485" cy="1972163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66675"/>
              <a:ext cx="5946485" cy="7773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965"/>
                </a:lnSpc>
                <a:spcBef>
                  <a:spcPct val="0"/>
                </a:spcBef>
              </a:pPr>
              <a:r>
                <a:rPr lang="en-US" sz="3546">
                  <a:solidFill>
                    <a:srgbClr val="333333"/>
                  </a:solidFill>
                  <a:latin typeface="Radley"/>
                  <a:ea typeface="Radley"/>
                  <a:cs typeface="Radley"/>
                  <a:sym typeface="Radley"/>
                </a:rPr>
                <a:t>IDE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780289"/>
              <a:ext cx="5946485" cy="11918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46"/>
                </a:lnSpc>
                <a:spcBef>
                  <a:spcPct val="0"/>
                </a:spcBef>
              </a:pPr>
              <a:r>
                <a:rPr lang="en-US" sz="2533" u="none" strike="noStrike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</a:rPr>
                <a:t>Visual Studio Code is the chosen IDE.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118344" y="3075271"/>
            <a:ext cx="4447763" cy="1430668"/>
            <a:chOff x="0" y="0"/>
            <a:chExt cx="5930351" cy="1907558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76200"/>
              <a:ext cx="5930351" cy="799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052"/>
                </a:lnSpc>
                <a:spcBef>
                  <a:spcPct val="0"/>
                </a:spcBef>
              </a:pPr>
              <a:r>
                <a:rPr lang="en-US" sz="3608">
                  <a:solidFill>
                    <a:srgbClr val="333333"/>
                  </a:solidFill>
                  <a:latin typeface="Radley"/>
                  <a:ea typeface="Radley"/>
                  <a:cs typeface="Radley"/>
                  <a:sym typeface="Radley"/>
                </a:rPr>
                <a:t>Hardware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696604"/>
              <a:ext cx="5930351" cy="12109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8"/>
                </a:lnSpc>
                <a:spcBef>
                  <a:spcPct val="0"/>
                </a:spcBef>
              </a:pPr>
              <a:r>
                <a:rPr lang="en-US" sz="2577" u="none" strike="noStrike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</a:rPr>
                <a:t>A laptop with a webcam is essential.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51918" y="2483084"/>
            <a:ext cx="5527032" cy="7619045"/>
            <a:chOff x="0" y="0"/>
            <a:chExt cx="1601951" cy="22082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01951" cy="2208299"/>
            </a:xfrm>
            <a:custGeom>
              <a:avLst/>
              <a:gdLst/>
              <a:ahLst/>
              <a:cxnLst/>
              <a:rect l="l" t="t" r="r" b="b"/>
              <a:pathLst>
                <a:path w="1601951" h="2208299">
                  <a:moveTo>
                    <a:pt x="0" y="0"/>
                  </a:moveTo>
                  <a:lnTo>
                    <a:pt x="1601951" y="0"/>
                  </a:lnTo>
                  <a:lnTo>
                    <a:pt x="1601951" y="2208299"/>
                  </a:lnTo>
                  <a:lnTo>
                    <a:pt x="0" y="2208299"/>
                  </a:lnTo>
                  <a:close/>
                </a:path>
              </a:pathLst>
            </a:custGeom>
            <a:blipFill>
              <a:blip r:embed="rId2"/>
              <a:stretch>
                <a:fillRect l="-56860" r="-56860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6440711" y="554989"/>
            <a:ext cx="4619625" cy="1004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840"/>
              </a:lnSpc>
              <a:spcBef>
                <a:spcPct val="0"/>
              </a:spcBef>
            </a:pPr>
            <a:r>
              <a:rPr lang="en-US" sz="7000">
                <a:solidFill>
                  <a:srgbClr val="0A0A0A"/>
                </a:solidFill>
                <a:latin typeface="Radley"/>
                <a:ea typeface="Radley"/>
                <a:cs typeface="Radley"/>
                <a:sym typeface="Radley"/>
              </a:rPr>
              <a:t>Tools Used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5978950" y="2174606"/>
            <a:ext cx="12879768" cy="6269535"/>
            <a:chOff x="0" y="0"/>
            <a:chExt cx="17173024" cy="8359380"/>
          </a:xfrm>
        </p:grpSpPr>
        <p:sp>
          <p:nvSpPr>
            <p:cNvPr id="6" name="TextBox 6"/>
            <p:cNvSpPr txBox="1"/>
            <p:nvPr/>
          </p:nvSpPr>
          <p:spPr>
            <a:xfrm>
              <a:off x="5051464" y="-57150"/>
              <a:ext cx="8430793" cy="6787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308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727954"/>
              <a:ext cx="17173024" cy="76314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1006597" lvl="1" indent="-503299" algn="l">
                <a:lnSpc>
                  <a:spcPts val="6527"/>
                </a:lnSpc>
                <a:buFont typeface="Arial"/>
                <a:buChar char="•"/>
              </a:pPr>
              <a:r>
                <a:rPr lang="en-US" sz="4662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</a:rPr>
                <a:t>Python – Core programming language</a:t>
              </a:r>
            </a:p>
            <a:p>
              <a:pPr marL="1006597" lvl="1" indent="-503299" algn="l">
                <a:lnSpc>
                  <a:spcPts val="6527"/>
                </a:lnSpc>
                <a:buFont typeface="Arial"/>
                <a:buChar char="•"/>
              </a:pPr>
              <a:r>
                <a:rPr lang="en-US" sz="4662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</a:rPr>
                <a:t>OpenCV (Haar Cascade) – Face detection</a:t>
              </a:r>
            </a:p>
            <a:p>
              <a:pPr marL="1006597" lvl="1" indent="-503299" algn="l">
                <a:lnSpc>
                  <a:spcPts val="6527"/>
                </a:lnSpc>
                <a:buFont typeface="Arial"/>
                <a:buChar char="•"/>
              </a:pPr>
              <a:r>
                <a:rPr lang="en-US" sz="4662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</a:rPr>
                <a:t>Vision Transformer (ViT) – Face recognition</a:t>
              </a:r>
            </a:p>
            <a:p>
              <a:pPr marL="1006597" lvl="1" indent="-503299" algn="l">
                <a:lnSpc>
                  <a:spcPts val="6527"/>
                </a:lnSpc>
                <a:buFont typeface="Arial"/>
                <a:buChar char="•"/>
              </a:pPr>
              <a:r>
                <a:rPr lang="en-US" sz="4662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</a:rPr>
                <a:t>Flask – Web application framework</a:t>
              </a:r>
            </a:p>
            <a:p>
              <a:pPr marL="1006597" lvl="1" indent="-503299" algn="l">
                <a:lnSpc>
                  <a:spcPts val="6527"/>
                </a:lnSpc>
                <a:buFont typeface="Arial"/>
                <a:buChar char="•"/>
              </a:pPr>
              <a:r>
                <a:rPr lang="en-US" sz="4662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</a:rPr>
                <a:t>Database (CSV) – Attendance storage</a:t>
              </a:r>
            </a:p>
            <a:p>
              <a:pPr marL="1006597" lvl="1" indent="-503299" algn="l">
                <a:lnSpc>
                  <a:spcPts val="6527"/>
                </a:lnSpc>
                <a:buFont typeface="Arial"/>
                <a:buChar char="•"/>
              </a:pPr>
              <a:r>
                <a:rPr lang="en-US" sz="4662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</a:rPr>
                <a:t>Web Camera – Image and video capture</a:t>
              </a:r>
            </a:p>
            <a:p>
              <a:pPr marL="0" lvl="0" indent="0" algn="l">
                <a:lnSpc>
                  <a:spcPts val="6527"/>
                </a:lnSpc>
              </a:pPr>
              <a:endParaRPr lang="en-US" sz="4662">
                <a:solidFill>
                  <a:srgbClr val="333333"/>
                </a:solidFill>
                <a:latin typeface="Carlito"/>
                <a:ea typeface="Carlito"/>
                <a:cs typeface="Carlito"/>
                <a:sym typeface="Carlito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9184102"/>
            <a:ext cx="2171730" cy="2205796"/>
            <a:chOff x="0" y="0"/>
            <a:chExt cx="812800" cy="825500"/>
          </a:xfrm>
        </p:grpSpPr>
        <p:sp>
          <p:nvSpPr>
            <p:cNvPr id="9" name="Freeform 9"/>
            <p:cNvSpPr/>
            <p:nvPr/>
          </p:nvSpPr>
          <p:spPr>
            <a:xfrm>
              <a:off x="1270" y="0"/>
              <a:ext cx="810260" cy="822960"/>
            </a:xfrm>
            <a:custGeom>
              <a:avLst/>
              <a:gdLst/>
              <a:ahLst/>
              <a:cxnLst/>
              <a:rect l="l" t="t" r="r" b="b"/>
              <a:pathLst>
                <a:path w="810260" h="822960">
                  <a:moveTo>
                    <a:pt x="405130" y="0"/>
                  </a:moveTo>
                  <a:lnTo>
                    <a:pt x="450850" y="151130"/>
                  </a:lnTo>
                  <a:lnTo>
                    <a:pt x="546100" y="25400"/>
                  </a:lnTo>
                  <a:lnTo>
                    <a:pt x="537210" y="181610"/>
                  </a:lnTo>
                  <a:lnTo>
                    <a:pt x="669290" y="96520"/>
                  </a:lnTo>
                  <a:lnTo>
                    <a:pt x="608330" y="241300"/>
                  </a:lnTo>
                  <a:lnTo>
                    <a:pt x="760730" y="205740"/>
                  </a:lnTo>
                  <a:lnTo>
                    <a:pt x="654050" y="321310"/>
                  </a:lnTo>
                  <a:lnTo>
                    <a:pt x="810260" y="340360"/>
                  </a:lnTo>
                  <a:lnTo>
                    <a:pt x="669290" y="411480"/>
                  </a:lnTo>
                  <a:lnTo>
                    <a:pt x="810260" y="482600"/>
                  </a:lnTo>
                  <a:lnTo>
                    <a:pt x="654050" y="501650"/>
                  </a:lnTo>
                  <a:lnTo>
                    <a:pt x="760730" y="617220"/>
                  </a:lnTo>
                  <a:lnTo>
                    <a:pt x="608330" y="581660"/>
                  </a:lnTo>
                  <a:lnTo>
                    <a:pt x="669290" y="726440"/>
                  </a:lnTo>
                  <a:lnTo>
                    <a:pt x="537210" y="640080"/>
                  </a:lnTo>
                  <a:lnTo>
                    <a:pt x="546100" y="797560"/>
                  </a:lnTo>
                  <a:lnTo>
                    <a:pt x="450850" y="671830"/>
                  </a:lnTo>
                  <a:lnTo>
                    <a:pt x="405130" y="822960"/>
                  </a:lnTo>
                  <a:lnTo>
                    <a:pt x="359410" y="671830"/>
                  </a:lnTo>
                  <a:lnTo>
                    <a:pt x="264160" y="797560"/>
                  </a:lnTo>
                  <a:lnTo>
                    <a:pt x="273050" y="640080"/>
                  </a:lnTo>
                  <a:lnTo>
                    <a:pt x="140970" y="726440"/>
                  </a:lnTo>
                  <a:lnTo>
                    <a:pt x="201930" y="581660"/>
                  </a:lnTo>
                  <a:lnTo>
                    <a:pt x="49530" y="617220"/>
                  </a:lnTo>
                  <a:lnTo>
                    <a:pt x="156210" y="501650"/>
                  </a:lnTo>
                  <a:lnTo>
                    <a:pt x="0" y="482600"/>
                  </a:lnTo>
                  <a:lnTo>
                    <a:pt x="140970" y="411480"/>
                  </a:lnTo>
                  <a:lnTo>
                    <a:pt x="0" y="340360"/>
                  </a:lnTo>
                  <a:lnTo>
                    <a:pt x="156210" y="321310"/>
                  </a:lnTo>
                  <a:lnTo>
                    <a:pt x="49530" y="205740"/>
                  </a:lnTo>
                  <a:lnTo>
                    <a:pt x="201930" y="241300"/>
                  </a:lnTo>
                  <a:lnTo>
                    <a:pt x="140970" y="96520"/>
                  </a:lnTo>
                  <a:lnTo>
                    <a:pt x="273050" y="181610"/>
                  </a:lnTo>
                  <a:lnTo>
                    <a:pt x="264160" y="25400"/>
                  </a:lnTo>
                  <a:lnTo>
                    <a:pt x="359410" y="151130"/>
                  </a:ln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-4731" y="0"/>
            <a:ext cx="2066862" cy="2327390"/>
          </a:xfrm>
          <a:custGeom>
            <a:avLst/>
            <a:gdLst/>
            <a:ahLst/>
            <a:cxnLst/>
            <a:rect l="l" t="t" r="r" b="b"/>
            <a:pathLst>
              <a:path w="2066862" h="2327390">
                <a:moveTo>
                  <a:pt x="0" y="0"/>
                </a:moveTo>
                <a:lnTo>
                  <a:pt x="2066862" y="0"/>
                </a:lnTo>
                <a:lnTo>
                  <a:pt x="2066862" y="2327390"/>
                </a:lnTo>
                <a:lnTo>
                  <a:pt x="0" y="23273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7595" y="3501681"/>
            <a:ext cx="7270285" cy="4418082"/>
            <a:chOff x="0" y="0"/>
            <a:chExt cx="3307283" cy="20098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07283" cy="2009804"/>
            </a:xfrm>
            <a:custGeom>
              <a:avLst/>
              <a:gdLst/>
              <a:ahLst/>
              <a:cxnLst/>
              <a:rect l="l" t="t" r="r" b="b"/>
              <a:pathLst>
                <a:path w="3307283" h="2009804">
                  <a:moveTo>
                    <a:pt x="0" y="0"/>
                  </a:moveTo>
                  <a:lnTo>
                    <a:pt x="3307283" y="0"/>
                  </a:lnTo>
                  <a:lnTo>
                    <a:pt x="3307283" y="2009804"/>
                  </a:lnTo>
                  <a:lnTo>
                    <a:pt x="0" y="2009804"/>
                  </a:lnTo>
                  <a:close/>
                </a:path>
              </a:pathLst>
            </a:custGeom>
            <a:blipFill>
              <a:blip r:embed="rId2"/>
              <a:stretch>
                <a:fillRect t="-3069" b="-306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9184102"/>
            <a:ext cx="2171730" cy="2205796"/>
            <a:chOff x="0" y="0"/>
            <a:chExt cx="812800" cy="825500"/>
          </a:xfrm>
        </p:grpSpPr>
        <p:sp>
          <p:nvSpPr>
            <p:cNvPr id="5" name="Freeform 5"/>
            <p:cNvSpPr/>
            <p:nvPr/>
          </p:nvSpPr>
          <p:spPr>
            <a:xfrm>
              <a:off x="1270" y="0"/>
              <a:ext cx="810260" cy="822960"/>
            </a:xfrm>
            <a:custGeom>
              <a:avLst/>
              <a:gdLst/>
              <a:ahLst/>
              <a:cxnLst/>
              <a:rect l="l" t="t" r="r" b="b"/>
              <a:pathLst>
                <a:path w="810260" h="822960">
                  <a:moveTo>
                    <a:pt x="405130" y="0"/>
                  </a:moveTo>
                  <a:lnTo>
                    <a:pt x="450850" y="151130"/>
                  </a:lnTo>
                  <a:lnTo>
                    <a:pt x="546100" y="25400"/>
                  </a:lnTo>
                  <a:lnTo>
                    <a:pt x="537210" y="181610"/>
                  </a:lnTo>
                  <a:lnTo>
                    <a:pt x="669290" y="96520"/>
                  </a:lnTo>
                  <a:lnTo>
                    <a:pt x="608330" y="241300"/>
                  </a:lnTo>
                  <a:lnTo>
                    <a:pt x="760730" y="205740"/>
                  </a:lnTo>
                  <a:lnTo>
                    <a:pt x="654050" y="321310"/>
                  </a:lnTo>
                  <a:lnTo>
                    <a:pt x="810260" y="340360"/>
                  </a:lnTo>
                  <a:lnTo>
                    <a:pt x="669290" y="411480"/>
                  </a:lnTo>
                  <a:lnTo>
                    <a:pt x="810260" y="482600"/>
                  </a:lnTo>
                  <a:lnTo>
                    <a:pt x="654050" y="501650"/>
                  </a:lnTo>
                  <a:lnTo>
                    <a:pt x="760730" y="617220"/>
                  </a:lnTo>
                  <a:lnTo>
                    <a:pt x="608330" y="581660"/>
                  </a:lnTo>
                  <a:lnTo>
                    <a:pt x="669290" y="726440"/>
                  </a:lnTo>
                  <a:lnTo>
                    <a:pt x="537210" y="640080"/>
                  </a:lnTo>
                  <a:lnTo>
                    <a:pt x="546100" y="797560"/>
                  </a:lnTo>
                  <a:lnTo>
                    <a:pt x="450850" y="671830"/>
                  </a:lnTo>
                  <a:lnTo>
                    <a:pt x="405130" y="822960"/>
                  </a:lnTo>
                  <a:lnTo>
                    <a:pt x="359410" y="671830"/>
                  </a:lnTo>
                  <a:lnTo>
                    <a:pt x="264160" y="797560"/>
                  </a:lnTo>
                  <a:lnTo>
                    <a:pt x="273050" y="640080"/>
                  </a:lnTo>
                  <a:lnTo>
                    <a:pt x="140970" y="726440"/>
                  </a:lnTo>
                  <a:lnTo>
                    <a:pt x="201930" y="581660"/>
                  </a:lnTo>
                  <a:lnTo>
                    <a:pt x="49530" y="617220"/>
                  </a:lnTo>
                  <a:lnTo>
                    <a:pt x="156210" y="501650"/>
                  </a:lnTo>
                  <a:lnTo>
                    <a:pt x="0" y="482600"/>
                  </a:lnTo>
                  <a:lnTo>
                    <a:pt x="140970" y="411480"/>
                  </a:lnTo>
                  <a:lnTo>
                    <a:pt x="0" y="340360"/>
                  </a:lnTo>
                  <a:lnTo>
                    <a:pt x="156210" y="321310"/>
                  </a:lnTo>
                  <a:lnTo>
                    <a:pt x="49530" y="205740"/>
                  </a:lnTo>
                  <a:lnTo>
                    <a:pt x="201930" y="241300"/>
                  </a:lnTo>
                  <a:lnTo>
                    <a:pt x="140970" y="96520"/>
                  </a:lnTo>
                  <a:lnTo>
                    <a:pt x="273050" y="181610"/>
                  </a:lnTo>
                  <a:lnTo>
                    <a:pt x="264160" y="25400"/>
                  </a:lnTo>
                  <a:lnTo>
                    <a:pt x="359410" y="151130"/>
                  </a:ln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17595" y="0"/>
            <a:ext cx="2318426" cy="2399067"/>
          </a:xfrm>
          <a:custGeom>
            <a:avLst/>
            <a:gdLst/>
            <a:ahLst/>
            <a:cxnLst/>
            <a:rect l="l" t="t" r="r" b="b"/>
            <a:pathLst>
              <a:path w="2318426" h="2399067">
                <a:moveTo>
                  <a:pt x="0" y="0"/>
                </a:moveTo>
                <a:lnTo>
                  <a:pt x="2318426" y="0"/>
                </a:lnTo>
                <a:lnTo>
                  <a:pt x="2318426" y="2399067"/>
                </a:lnTo>
                <a:lnTo>
                  <a:pt x="0" y="23990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019461" y="288351"/>
            <a:ext cx="15483608" cy="850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36"/>
              </a:lnSpc>
              <a:spcBef>
                <a:spcPct val="0"/>
              </a:spcBef>
            </a:pPr>
            <a:r>
              <a:rPr lang="en-US" sz="5925">
                <a:solidFill>
                  <a:srgbClr val="0A0A0A"/>
                </a:solidFill>
                <a:latin typeface="Radley"/>
                <a:ea typeface="Radley"/>
                <a:cs typeface="Radley"/>
                <a:sym typeface="Radley"/>
              </a:rPr>
              <a:t>Methodology: Data Collection and Processing 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768393" y="3501681"/>
            <a:ext cx="10734675" cy="5724801"/>
            <a:chOff x="0" y="0"/>
            <a:chExt cx="14312900" cy="7633069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104775"/>
              <a:ext cx="14312900" cy="11600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314"/>
                </a:lnSpc>
                <a:spcBef>
                  <a:spcPct val="0"/>
                </a:spcBef>
              </a:pPr>
              <a:r>
                <a:rPr lang="en-US" sz="5224">
                  <a:solidFill>
                    <a:srgbClr val="333333"/>
                  </a:solidFill>
                  <a:latin typeface="Radley"/>
                  <a:ea typeface="Radley"/>
                  <a:cs typeface="Radley"/>
                  <a:sym typeface="Radley"/>
                </a:rPr>
                <a:t>Data Collection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357494"/>
              <a:ext cx="14312900" cy="6275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25124" lvl="1" indent="-362562" algn="l">
                <a:lnSpc>
                  <a:spcPts val="4702"/>
                </a:lnSpc>
                <a:buFont typeface="Arial"/>
                <a:buChar char="•"/>
              </a:pPr>
              <a:r>
                <a:rPr lang="en-US" sz="3358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</a:rPr>
                <a:t>Capture live video/image input from camera</a:t>
              </a:r>
            </a:p>
            <a:p>
              <a:pPr marL="725124" lvl="1" indent="-362562" algn="l">
                <a:lnSpc>
                  <a:spcPts val="4702"/>
                </a:lnSpc>
                <a:buFont typeface="Arial"/>
                <a:buChar char="•"/>
              </a:pPr>
              <a:r>
                <a:rPr lang="en-US" sz="3358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</a:rPr>
                <a:t>Detect faces using Haar Cascade algorithm</a:t>
              </a:r>
            </a:p>
            <a:p>
              <a:pPr marL="725124" lvl="1" indent="-362562" algn="l">
                <a:lnSpc>
                  <a:spcPts val="4702"/>
                </a:lnSpc>
                <a:buFont typeface="Arial"/>
                <a:buChar char="•"/>
              </a:pPr>
              <a:r>
                <a:rPr lang="en-US" sz="3358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</a:rPr>
                <a:t>Preprocess detected faces (resize, normalize)</a:t>
              </a:r>
            </a:p>
            <a:p>
              <a:pPr marL="725124" lvl="1" indent="-362562" algn="l">
                <a:lnSpc>
                  <a:spcPts val="4702"/>
                </a:lnSpc>
                <a:buFont typeface="Arial"/>
                <a:buChar char="•"/>
              </a:pPr>
              <a:r>
                <a:rPr lang="en-US" sz="3358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</a:rPr>
                <a:t>Extract facial features using Vision Transformer (ViT)</a:t>
              </a:r>
            </a:p>
            <a:p>
              <a:pPr marL="725124" lvl="1" indent="-362562" algn="l">
                <a:lnSpc>
                  <a:spcPts val="4702"/>
                </a:lnSpc>
                <a:buFont typeface="Arial"/>
                <a:buChar char="•"/>
              </a:pPr>
              <a:r>
                <a:rPr lang="en-US" sz="3358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</a:rPr>
                <a:t>Match faces with stored database for identification</a:t>
              </a:r>
            </a:p>
            <a:p>
              <a:pPr marL="725124" lvl="1" indent="-362562" algn="l">
                <a:lnSpc>
                  <a:spcPts val="4702"/>
                </a:lnSpc>
                <a:buFont typeface="Arial"/>
                <a:buChar char="•"/>
              </a:pPr>
              <a:r>
                <a:rPr lang="en-US" sz="3358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</a:rPr>
                <a:t>Mark and store attendance in the database</a:t>
              </a:r>
            </a:p>
            <a:p>
              <a:pPr marL="725124" lvl="1" indent="-362562" algn="l">
                <a:lnSpc>
                  <a:spcPts val="4702"/>
                </a:lnSpc>
                <a:buFont typeface="Arial"/>
                <a:buChar char="•"/>
              </a:pPr>
              <a:r>
                <a:rPr lang="en-US" sz="3358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</a:rPr>
                <a:t>Display results through Flask-based web application</a:t>
              </a:r>
            </a:p>
            <a:p>
              <a:pPr marL="0" lvl="0" indent="0" algn="l">
                <a:lnSpc>
                  <a:spcPts val="4702"/>
                </a:lnSpc>
              </a:pPr>
              <a:endParaRPr lang="en-US" sz="3358">
                <a:solidFill>
                  <a:srgbClr val="333333"/>
                </a:solidFill>
                <a:latin typeface="Carlito"/>
                <a:ea typeface="Carlito"/>
                <a:cs typeface="Carlito"/>
                <a:sym typeface="Carlito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248227" y="0"/>
            <a:ext cx="6039773" cy="5933717"/>
            <a:chOff x="0" y="0"/>
            <a:chExt cx="1953444" cy="19191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53444" cy="1919142"/>
            </a:xfrm>
            <a:custGeom>
              <a:avLst/>
              <a:gdLst/>
              <a:ahLst/>
              <a:cxnLst/>
              <a:rect l="l" t="t" r="r" b="b"/>
              <a:pathLst>
                <a:path w="1953444" h="1919142">
                  <a:moveTo>
                    <a:pt x="0" y="0"/>
                  </a:moveTo>
                  <a:lnTo>
                    <a:pt x="1953444" y="0"/>
                  </a:lnTo>
                  <a:lnTo>
                    <a:pt x="1953444" y="1919142"/>
                  </a:lnTo>
                  <a:lnTo>
                    <a:pt x="0" y="1919142"/>
                  </a:lnTo>
                  <a:close/>
                </a:path>
              </a:pathLst>
            </a:custGeom>
            <a:blipFill>
              <a:blip r:embed="rId2"/>
              <a:stretch>
                <a:fillRect l="-3758" r="-375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5143500"/>
            <a:ext cx="8347224" cy="5143500"/>
            <a:chOff x="0" y="0"/>
            <a:chExt cx="3485931" cy="214800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485931" cy="2148006"/>
            </a:xfrm>
            <a:custGeom>
              <a:avLst/>
              <a:gdLst/>
              <a:ahLst/>
              <a:cxnLst/>
              <a:rect l="l" t="t" r="r" b="b"/>
              <a:pathLst>
                <a:path w="3485931" h="2148006">
                  <a:moveTo>
                    <a:pt x="0" y="0"/>
                  </a:moveTo>
                  <a:lnTo>
                    <a:pt x="3485931" y="0"/>
                  </a:lnTo>
                  <a:lnTo>
                    <a:pt x="3485931" y="2148006"/>
                  </a:lnTo>
                  <a:lnTo>
                    <a:pt x="0" y="2148006"/>
                  </a:lnTo>
                  <a:close/>
                </a:path>
              </a:pathLst>
            </a:custGeom>
            <a:blipFill>
              <a:blip r:embed="rId3"/>
              <a:stretch>
                <a:fillRect l="-6273" r="-6273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0" y="0"/>
            <a:ext cx="2142832" cy="2412937"/>
          </a:xfrm>
          <a:custGeom>
            <a:avLst/>
            <a:gdLst/>
            <a:ahLst/>
            <a:cxnLst/>
            <a:rect l="l" t="t" r="r" b="b"/>
            <a:pathLst>
              <a:path w="2142832" h="2412937">
                <a:moveTo>
                  <a:pt x="0" y="0"/>
                </a:moveTo>
                <a:lnTo>
                  <a:pt x="2142832" y="0"/>
                </a:lnTo>
                <a:lnTo>
                  <a:pt x="2142832" y="2412937"/>
                </a:lnTo>
                <a:lnTo>
                  <a:pt x="0" y="24129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2462489" y="261094"/>
            <a:ext cx="10044227" cy="5411529"/>
            <a:chOff x="0" y="0"/>
            <a:chExt cx="13392303" cy="7215372"/>
          </a:xfrm>
        </p:grpSpPr>
        <p:sp>
          <p:nvSpPr>
            <p:cNvPr id="8" name="TextBox 8"/>
            <p:cNvSpPr txBox="1"/>
            <p:nvPr/>
          </p:nvSpPr>
          <p:spPr>
            <a:xfrm>
              <a:off x="0" y="57150"/>
              <a:ext cx="13392303" cy="14895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565"/>
                </a:lnSpc>
                <a:spcBef>
                  <a:spcPct val="0"/>
                </a:spcBef>
              </a:pPr>
              <a:r>
                <a:rPr lang="en-US" sz="7648">
                  <a:solidFill>
                    <a:srgbClr val="0A0A0A"/>
                  </a:solidFill>
                  <a:latin typeface="Radley"/>
                  <a:ea typeface="Radley"/>
                  <a:cs typeface="Radley"/>
                  <a:sym typeface="Radley"/>
                </a:rPr>
                <a:t>Results and Discussion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499057"/>
              <a:ext cx="12571393" cy="57163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60481" lvl="1" indent="-330241" algn="l">
                <a:lnSpc>
                  <a:spcPts val="42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59">
                  <a:solidFill>
                    <a:srgbClr val="333333"/>
                  </a:solidFill>
                  <a:latin typeface="Radley"/>
                  <a:ea typeface="Radley"/>
                  <a:cs typeface="Radley"/>
                  <a:sym typeface="Radley"/>
                </a:rPr>
                <a:t>The system successfully detected and recognized faces in real time using Haar Cascade and Vision Transformer.</a:t>
              </a:r>
            </a:p>
            <a:p>
              <a:pPr marL="660481" lvl="1" indent="-330241" algn="l">
                <a:lnSpc>
                  <a:spcPts val="42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59">
                  <a:solidFill>
                    <a:srgbClr val="333333"/>
                  </a:solidFill>
                  <a:latin typeface="Radley"/>
                  <a:ea typeface="Radley"/>
                  <a:cs typeface="Radley"/>
                  <a:sym typeface="Radley"/>
                </a:rPr>
                <a:t>High recognition accuracy was achieved under normal lighting conditions.</a:t>
              </a:r>
            </a:p>
            <a:p>
              <a:pPr marL="660481" lvl="1" indent="-330241" algn="l">
                <a:lnSpc>
                  <a:spcPts val="42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59">
                  <a:solidFill>
                    <a:srgbClr val="333333"/>
                  </a:solidFill>
                  <a:latin typeface="Radley"/>
                  <a:ea typeface="Radley"/>
                  <a:cs typeface="Radley"/>
                  <a:sym typeface="Radley"/>
                </a:rPr>
                <a:t>The automated system reduced manual effort and proxy attendance effectively.</a:t>
              </a:r>
            </a:p>
            <a:p>
              <a:pPr marL="0" lvl="0" indent="0" algn="l">
                <a:lnSpc>
                  <a:spcPts val="4282"/>
                </a:lnSpc>
                <a:spcBef>
                  <a:spcPct val="0"/>
                </a:spcBef>
              </a:pPr>
              <a:endParaRPr lang="en-US" sz="3059">
                <a:solidFill>
                  <a:srgbClr val="333333"/>
                </a:solidFill>
                <a:latin typeface="Radley"/>
                <a:ea typeface="Radley"/>
                <a:cs typeface="Radley"/>
                <a:sym typeface="Radley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8511494" y="6325808"/>
            <a:ext cx="9776506" cy="3614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5592" lvl="1" indent="-312796" algn="l">
              <a:lnSpc>
                <a:spcPts val="4056"/>
              </a:lnSpc>
              <a:buFont typeface="Arial"/>
              <a:buChar char="•"/>
            </a:pPr>
            <a:r>
              <a:rPr lang="en-US" sz="2897">
                <a:solidFill>
                  <a:srgbClr val="333333"/>
                </a:solidFill>
                <a:latin typeface="Carlito"/>
                <a:ea typeface="Carlito"/>
                <a:cs typeface="Carlito"/>
                <a:sym typeface="Carlito"/>
              </a:rPr>
              <a:t>Attendance records were accurately stored and retrieved through the Flask-based web application.</a:t>
            </a:r>
          </a:p>
          <a:p>
            <a:pPr marL="625592" lvl="1" indent="-312796" algn="l">
              <a:lnSpc>
                <a:spcPts val="4056"/>
              </a:lnSpc>
              <a:buFont typeface="Arial"/>
              <a:buChar char="•"/>
            </a:pPr>
            <a:r>
              <a:rPr lang="en-US" sz="2897">
                <a:solidFill>
                  <a:srgbClr val="333333"/>
                </a:solidFill>
                <a:latin typeface="Carlito"/>
                <a:ea typeface="Carlito"/>
                <a:cs typeface="Carlito"/>
                <a:sym typeface="Carlito"/>
              </a:rPr>
              <a:t>The system showed fast response time, making it suitable for classroom environments.</a:t>
            </a:r>
          </a:p>
          <a:p>
            <a:pPr marL="625592" lvl="1" indent="-312796" algn="l">
              <a:lnSpc>
                <a:spcPts val="4056"/>
              </a:lnSpc>
              <a:buFont typeface="Arial"/>
              <a:buChar char="•"/>
            </a:pPr>
            <a:r>
              <a:rPr lang="en-US" sz="2897">
                <a:solidFill>
                  <a:srgbClr val="333333"/>
                </a:solidFill>
                <a:latin typeface="Carlito"/>
                <a:ea typeface="Carlito"/>
                <a:cs typeface="Carlito"/>
                <a:sym typeface="Carlito"/>
              </a:rPr>
              <a:t>Performance may vary under poor lighting or occlusions, indicating scope for future improvement.</a:t>
            </a:r>
          </a:p>
          <a:p>
            <a:pPr marL="0" lvl="0" indent="0" algn="l">
              <a:lnSpc>
                <a:spcPts val="4056"/>
              </a:lnSpc>
            </a:pPr>
            <a:endParaRPr lang="en-US" sz="2897">
              <a:solidFill>
                <a:srgbClr val="333333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2315384" cy="2607239"/>
          </a:xfrm>
          <a:custGeom>
            <a:avLst/>
            <a:gdLst/>
            <a:ahLst/>
            <a:cxnLst/>
            <a:rect l="l" t="t" r="r" b="b"/>
            <a:pathLst>
              <a:path w="2315384" h="2607239">
                <a:moveTo>
                  <a:pt x="0" y="0"/>
                </a:moveTo>
                <a:lnTo>
                  <a:pt x="2315384" y="0"/>
                </a:lnTo>
                <a:lnTo>
                  <a:pt x="2315384" y="2607239"/>
                </a:lnTo>
                <a:lnTo>
                  <a:pt x="0" y="26072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490122" y="4128409"/>
            <a:ext cx="11797878" cy="1305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28"/>
              </a:lnSpc>
              <a:spcBef>
                <a:spcPct val="0"/>
              </a:spcBef>
            </a:pPr>
            <a:r>
              <a:rPr lang="en-US" sz="7662" i="1">
                <a:solidFill>
                  <a:srgbClr val="000000"/>
                </a:solidFill>
                <a:latin typeface="Radley Italics"/>
                <a:ea typeface="Radley Italics"/>
                <a:cs typeface="Radley Italics"/>
                <a:sym typeface="Radley Italic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569</Words>
  <Application>Microsoft Office PowerPoint</Application>
  <PresentationFormat>Custom</PresentationFormat>
  <Paragraphs>68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Lucida Sans Typewriter</vt:lpstr>
      <vt:lpstr>Radley</vt:lpstr>
      <vt:lpstr>Radley Italics</vt:lpstr>
      <vt:lpstr>Calibri</vt:lpstr>
      <vt:lpstr>Arial</vt:lpstr>
      <vt:lpstr>Carlito</vt:lpstr>
      <vt:lpstr>Office Theme</vt:lpstr>
      <vt:lpstr>Applied Science and Engineering Project (ASEP) Course Code: AI 1011   Mid Semester Review Activity Presentation</vt:lpstr>
      <vt:lpstr>Applied Science and Engineering Project 1 (ASEP1) Project_PPT for Mid Semester Assessment – November 2025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AI Attendance Tracker</dc:title>
  <dc:creator>Soham Patil</dc:creator>
  <dc:description>Presentation - AI Attendance Tracker</dc:description>
  <cp:lastModifiedBy>Soham Patil</cp:lastModifiedBy>
  <cp:revision>2</cp:revision>
  <dcterms:created xsi:type="dcterms:W3CDTF">2006-08-16T00:00:00Z</dcterms:created>
  <dcterms:modified xsi:type="dcterms:W3CDTF">2026-01-16T16:54:19Z</dcterms:modified>
  <dc:identifier>DAG-lomC6z4</dc:identifier>
</cp:coreProperties>
</file>